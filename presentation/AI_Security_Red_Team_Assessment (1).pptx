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Title slide for an individual technical evaluation of my AI Security Red Team Assessment project.
SAY: Introduce yourself and the project in one sentence: "This is a red-team security assessment of a locally deployed MNIST classifier served through a FastAPI inference API." State the format: 20-minute presentation, 15-minute code walkthrough/Q&amp;A, 15-minute live change.
EMPHASIZE: Everything shown was performed locally, end-to-end, by you — recon, attack, findings, fixes, and re-verification.
LIKELY QUESTION: "What exactly did you build/test?" — answer: a small PyTorch MNIST classifier behind a FastAPI /predict endpoint, containerized with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States the goal of the assessment and the five-stage workflow.
SAY: "The objective was to run a complete red-team cycle against my own local system — recon, attack, verify the attack worked, identify findings, mitigate them, then re-verify." Point out the scope boundary: this was local-only, controlled testing.
EMPHASIZE: The workflow discipline — every attack was verified through the live API, not just in an offline script.
LIKELY QUESTION: "Why MNIST and not a larger model?" — answer: small, well-understood model keeps the focus on the security workflow rather than model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Lists the technology stack and shows the data/request flow from dataset to model to API to container.
SAY: "The system is a small PyTorch classifier trained on MNIST, served through a FastAPI endpoint, and deployed inside a Docker container — all running locally."
EMPHASIZE: The flow diagram — an uploaded image travels through the API into the model and back as a prediction; that request path is the attack surface.
LIKELY QUESTION: "Is this containerized the same way it would be in production?" — answer: it uses the same Docker hardening controls (non-root, read-only fs, dropped capabilities) that a production deployment would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Shows the model's layer-by-layer architecture, a simple fully-connected network.
SAY: "The model is a small feed-forward network — flatten the 28x28 image, two hidden linear layers with ReLU activations, and a final layer producing 10 class scores, one per digit."
EMPHASIZE: This is intentionally simple so the focus stays on the security workflow, not model complexity.
LIKELY QUESTION: "What loss function / optimizer was used for training?" — be ready with a brief factual answer from your training script if asked; keep it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model's baseline accuracy on the full MNIST test set, before any attacks.
SAY: "Before attacking anything, I established a baseline: the model correctly classified 9,703 of 10,000 test images, 97.03% accuracy. This is the clean reference point every later result is compared against."
EMPHASIZE: The SHA-256 hash recorded here is the trusted value used later for model-integrity verification.
LIKELY QUESTION: "Is 97% good for MNIST?" — answer: it's reasonable for a small fully-connected network; larger CNNs would score higher, but accuracy wasn't the focus of this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endpoints discovered on the local FastAPI service during reconnaissance.
SAY: "I enumerated the API surface: /predict for inference, /health, /model-info, /docs, and /openapi.json. /predict was the main attack surface since it's the only endpoint that takes user input."
EMPHASIZE: The API intentionally returns only the top-1 predicted digit — no logits or confidence scores — which matters later for the model-extraction experiment.
LIKELY QUESTION: "Did you find anything unusual in /docs or /openapi.json?" — answer: no, standard HTTP behavior (405/422 for wrong methods/bad input) was observed and is not itself a vulnerability.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Explains the FGSM attack concept and formula before showing results.
SAY: "FGSM takes the gradient of the model's loss with respect to the input image, takes its sign, scales it by a small epsilon, and adds that to the image — one step, in the direction that most increases the loss."
EMPHASIZE: It's a single-step attack — contrast this later with PGD, which is iterative.
LIKELY QUESTION: "Why the sign of the gradient instead of the raw gradient?" — answer: taking the sign gives a bounded, uniform-magnitude perturbation controlled entirely by epsilon, which is simpler and 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First FGSM attack result — a true '7' misclassified as '3' after adding an epsilon=0.1 perturbation.
SAY: "The model originally classified this image correctly as a 7. After applying FGSM with epsilon 0.1, the model predicted 3. I then submitted the adversarial image directly to the live API and got the same wrong prediction back — confirming the attack works against the deployed service, not just an offline script."
EMPHASIZE: The API verification step — this is what makes it a red-team result and not just a research demo.
LIKELY QUESTION: "How large is epsilon relative to pixel values?" — answer: pixel values are normalized to roughly [0,1]/[-1,1], so epsilon=0.1 is a small, visually subtle perturbation.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A second, independent FGSM demonstration — a true '2' misclassified as '1'.
SAY: "To confirm this wasn't a one-off, I repeated FGSM on a different digit. A true 2 was pushed to predict 1, again with epsilon 0.1, and again verified through the live API."
EMPHASIZE: Reproducibility — the same technique, same epsilon, different input, same class of result.
LIKELY QUESTION: "What were the actual gradient and perturbation ranges?" — gradient was roughly -0.00508 to 0.00682; after taking the sign the values are exactly -1/+1; the final perturbation was bounded to approximately -0.1 to +0.1 by epsilon.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Explains PGD as an iterative refinement of the FGSM idea.
SAY: "PGD does what FGSM does, but repeatedly — 10 small steps of size alpha=0.01, each followed by projecting the perturbation back within the epsilon=0.1 boundary, so the image never drifts too far from the original."
EMPHASIZE: The contrast with FGSM — one shot vs. iterative refinement — is the key technical point.
LIKELY QUESTION: "Why is PGD considered stronger than FGSM?" — answer: because it can search more carefully within the allowed perturbation budget across multiple steps rather than committing to one gradient-sign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PGD attack result — the same true '7' misclassified as '3', this time via the iterative attack.
SAY: "Using the same original image class, PGD also drove the prediction from 7 to 3, and I confirmed this through the live API the same way as FGSM."
EMPHASIZE: This gives an independent attack method producing a verified result, not just a repeat of FGSM.
LIKELY QUESTION: "Did PGD require a smaller epsilon than FGSM to succeed?" — answer: no, the same epsilon (0.1) was used for both, to keep the comparison fair; PGD reached the same result through iterative refinement rather than a smaller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five security findings from the assessment, in the order they were investigated.
SAY: Walk each row briefly: adversarial inputs fool the model; input validation was missing; model file integrity wasn't verified; the container ran with excess privileges; and repeated queries could support model extraction.
EMPHASIZE: These five findings map 1:1 to the mitigations on the following slides — nothing here is invented or extrapolated beyond what was tested.
LIKELY QUESTION: "Which finding did you consider most severe?" — give your own honest assessment, e.g. model integrity, since a modified model silently changes every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Input-validation controls added to the /predict endpoint.
SAY: "I added explicit limits: 5 MB max file size and 2048x2048 max dimensions, with invalid or empty files returning HTTP 400 and oversized files or dimensions returning HTTP 413."
EMPHASIZE: These map directly to Finding 2 — the input-validation risk — and were each individually tested.
LIKELY QUESTION: "Why 5 MB and 2048x2048 specifically?" — answer: reasonable, conservative limits for a 28x28 MNIST classifier — the model never needs images anywhere near that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model-integrity control — SHA-256 verification before load, plus safer PyTorch loading.
SAY: "Before the model is loaded, its SHA-256 hash is checked against the trusted value from the baseline. I tested this by deliberately tampering with the model file, and the API correctly refused to load it, raising a RuntimeError."
EMPHASIZE: weights_only=True in torch.load prevents unrestricted deserialization of arbitrary Python objects — a defense-in-depth measure alongside the hash check.
LIKELY QUESTION: "What happens to the API if the hash check fails at startup?" — answer: the model fails to load and the RuntimeError is raised, so the service does not silently serve a modified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final Docker runtime hardening configuration and its verification evidence.
SAY: "The container runs as a non-root user, with a read-only root filesystem, all Linux capabilities dropped, and no-new-privileges enabled. I verified each of these individually inside the running container — a write attempt to the root filesystem failed, capabilities showed as all zero, and NoNewPrivs read 1. /tmp remains writable for temporary storage."
EMPHASIZE: Every line in that configuration block was individually tested, not just declared.
LIKELY QUESTION: "Why leave /tmp writable if you want a read-only filesystem?" — answer: some processes need temporary scratch space; mounting /tmp as a writable tmpfs gives that without making the rest of the filesystem writable.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A direct side-by-side comparison of the container's security posture before and after hardening.
SAY: "Before hardening, the container ran as root with a writable filesystem, default capabilities, and no explicit privilege restriction. After hardening, it runs as a dedicated non-root user with a read-only filesystem, all capabilities dropped, and no-new-privileges enabled."
EMPHASIZE: Every 'after' item was actually implemented and verified — nothing here is aspirational.
LIKELY QUESTION: "Did hardening break anything?" — answer: no, the API continued to serve /health and /predict successfully after every hardening change, confirmed on the final verification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Introduces the bonus model-extraction experiment and its constraints.
SAY: "As a bonus, beyond the core assessment, I ran a black-box model-extraction experiment — treating the API purely as an oracle and collecting nothing but the predicted digit for each query. No weights, gradients, logits, or confidence scores were ever available."
EMPHASIZE: This directly demonstrates Finding 5 from the findings slide — it's not a separate, unrelated exercise.
LIKELY QUESTION: "Isn't top-1-only output supposed to prevent this kind of attack?" — answer: it raises the bar significantly, but doesn't eliminate the risk entirely, as this experiment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Results of the two black-box model-extraction experiments, and how to correctly interpret them.
SAY: "With 50 training queries, the substitute model matched the target on 33 of 50 unseen samples — 66% fidelity. Scaling to 500 training queries improved that to 83 of 100 — 83% fidelity."
EMPHASIZE: The interpretation box — fidelity measures prediction agreement, not model accuracy or exact cloning. This distinction is important and an evaluator will likely probe it.
LIKELY QUESTION: "Did the original model change during this experiment?" — answer: no — the original model's SHA-256 hash was re-verified after the experiment and was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Maps the assessment's activities onto four MITRE ATLAS adversarial-ML techniques.
SAY: "I mapped the work to four ATLAS techniques: identifying and querying the inference API, crafting adversarial data with FGSM/PGD, verifying the attacks through the live API, and assessing model-integrity erosion. A Navigator-compatible JSON layer captures this mapping."
EMPHASIZE: These four techniques map directly to activities already shown — recon, FGSM/PGD, API verification, and the integrity finding.
LIKELY QUESTION: "Why MITRE ATLAS specifically, rather than ATT&amp;CK?" — answer: ATLAS is the MITRE framework purpose-built for adversarial machine-learning techniques, which fits an AI-model assessment better than the general ATT&amp;CK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Maps the assessment onto the four core functions of the NIST AI Risk Management Framework.
SAY: Walk each quadrant briefly — GOVERN covered documentation of activities and risks; MAP covered identifying the system and its risks; MEASURE covered the baseline, attack, and control results; MANAGE covered the mitigations actually implemented.
EMPHASIZE: This shows the assessment fits a recognized governance framework, not just an ad-hoc set of attacks.
LIKELY QUESTION: "How does NIST AI RMF differ from MITRE ATLAS here?" — answer: ATLAS classifies the specific adversarial techniques used; NIST AI RMF frames the overall risk-management process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The complete post-mitigation regression test — every prior finding and control re-verified in one pass.
SAY: "After implementing all mitigations, I re-ran every test: baseline accuracy, input validation, model integrity, all five Docker hardening checks, and both adversarial attacks. Everything passed — the security controls work, and the API still serves normal predictions correctly."
EMPHASIZE: This is the single slide that proves the fixes didn't break functionality while closing the findings.
LIKELY QUESTION: "Did you automate this verification, or run it manually?" — answer honestly based on how you actually ran it during the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WHAT: Closing summary — the full assessment arc in seven steps — plus the stated limitations.
SAY: "In summary: I tested a local model and API, attacked it with FGSM and PGD, discovered five findings, backed each with verified evidence, changed the API and container configuration, re-verified every fix, and ran a bonus black-box extraction experiment. I'll finish by being upfront about the limitations — this was a small model in a controlled local environment, and several attack classes like poisoning and backdoors were out of scope."
EMPHASIZE: Ending on limitations shows scoping discipline — exactly what a technical evaluator wants to see.
LIKELY QUESTION: "What would you do next if you continued this project?" — have one or two honest next steps ready, e.g. testing a larger model, or adding confidence-score-based extraction defenses.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paragraph text_1 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ln w="15875">
            <a:solidFill>
              <a:srgbClr val="DFE5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3749040" cy="3749040"/>
          </a:xfrm>
          <a:prstGeom prst="ellipse">
            <a:avLst/>
          </a:prstGeom>
          <a:ln w="12700">
            <a:solidFill>
              <a:srgbClr val="0E9E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566928" cy="566928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789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SECURITY EVALUATION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Security Red Team Assessment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MNIST Image-Classification Model  •  FastAPI Inference Service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Local Controlled Environment   ·   PyTorch   ·   FastAPI   ·   Docker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45864" y="5257800"/>
            <a:ext cx="0" cy="685800"/>
          </a:xfrm>
          <a:prstGeom prst="line">
            <a:avLst/>
          </a:prstGeom>
          <a:noFill/>
          <a:ln w="12700">
            <a:solidFill>
              <a:srgbClr val="DF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3088" y="5257800"/>
            <a:ext cx="0" cy="685800"/>
          </a:xfrm>
          <a:prstGeom prst="line">
            <a:avLst/>
          </a:prstGeom>
          <a:noFill/>
          <a:ln w="12700">
            <a:solidFill>
              <a:srgbClr val="DF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Assessment Objective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309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the security of a locally deployed MNIST classifier and its FastAPI inference service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a structured red-team workflow from reconnaissance through verified mitigation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Performed entirely in a local, controlled environment — no production or third-party systems involved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2011680"/>
            <a:ext cx="777240" cy="77724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86207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01000" y="2400300"/>
            <a:ext cx="80010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81010" y="2011680"/>
            <a:ext cx="777240" cy="77724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8101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806690" y="286207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58250" y="2400300"/>
            <a:ext cx="80010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38260" y="2011680"/>
            <a:ext cx="777240" cy="77724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3826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63940" y="286207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15500" y="2400300"/>
            <a:ext cx="80010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95510" y="2011680"/>
            <a:ext cx="777240" cy="77724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9551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521190" y="286207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72750" y="2400300"/>
            <a:ext cx="80010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52760" y="2011680"/>
            <a:ext cx="777240" cy="77724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5276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286207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RE-VERIFY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32918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52360" y="3456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BOUNDARY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794760"/>
            <a:ext cx="37490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model, local API, local Docker container only. No production systems, no third-party targets, no credential or data theft.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Under Test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controlled environment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model training &amp; inference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MNIST handwritten-digit dataset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inference API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container runtime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0" y="169164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MNIST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46888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2724912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272491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Model  (model/model.pth)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50215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3758184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75120" y="375818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 /predict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53542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4791456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75120" y="4791456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Container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28×28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543050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91106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36826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Flatten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85516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33572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79292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784→128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27982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76038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21758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18504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64224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128→64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2914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60970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06690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5380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03436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49156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64→10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197846" y="2148840"/>
            <a:ext cx="448056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645902" y="2148840"/>
            <a:ext cx="994410" cy="1417320"/>
          </a:xfrm>
          <a:prstGeom prst="roundRect">
            <a:avLst>
              <a:gd name="adj" fmla="val 7356"/>
            </a:avLst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691622" y="2148840"/>
            <a:ext cx="90297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3737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file:  model/model.pth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3063240" cy="107716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97.03%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9738"/>
            <a:ext cx="3063240" cy="5212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813048"/>
            <a:ext cx="3063240" cy="90708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9,703 / 10,000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8926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PREDICTIONS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1783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Trusted Model Hash (SHA-256)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21488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33672" y="228600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3" name="Shape 11"/>
          <p:cNvSpPr/>
          <p:nvPr/>
        </p:nvSpPr>
        <p:spPr>
          <a:xfrm>
            <a:off x="4434840" y="228600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14" name="Shape 12"/>
          <p:cNvSpPr/>
          <p:nvPr/>
        </p:nvSpPr>
        <p:spPr>
          <a:xfrm>
            <a:off x="4636008" y="228600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5" name="Text 13"/>
          <p:cNvSpPr txBox="1"/>
          <p:nvPr/>
        </p:nvSpPr>
        <p:spPr>
          <a:xfrm>
            <a:off x="4251960" y="2532888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5F8FF54138F8F8F242FDC3AE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6A89CE4D0A9404EE4A35A28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42356191D2500A8FE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52044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 a reference point before any adversarial or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testing begins.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1783080"/>
            <a:ext cx="3547872" cy="3794760"/>
          </a:xfrm>
          <a:prstGeom prst="roundRect">
            <a:avLst>
              <a:gd name="adj" fmla="val 1546"/>
            </a:avLst>
          </a:prstGeom>
          <a:solidFill>
            <a:srgbClr val="0E1B26"/>
          </a:solidFill>
          <a:ln w="15875">
            <a:solidFill>
              <a:srgbClr val="63737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092440" y="2466137"/>
            <a:ext cx="3547872" cy="129021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756355"/>
            <a:ext cx="3273552" cy="8348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EVIDENCE SCREENSHOT HERE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591202"/>
            <a:ext cx="3273552" cy="9107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accuracy evaluation output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RECONNAISSANCE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Attack Surface &amp; Reconnaissance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2103120"/>
          </a:xfrm>
          <a:prstGeom prst="roundRect">
            <a:avLst>
              <a:gd name="adj" fmla="val 3478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745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63093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/predict        # image classification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/health         # API health information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/model-info     # model information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/docs           # API documentation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 /openapi.json   # API structure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66751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/predict endpoint was identified as the primary attack surface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API does not expose model weights, logits, or confidence scores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52360" y="1737360"/>
            <a:ext cx="4187952" cy="1417320"/>
          </a:xfrm>
          <a:prstGeom prst="roundRect">
            <a:avLst>
              <a:gd name="adj" fmla="val 3226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543800" y="1810512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417674"/>
            <a:ext cx="4041648" cy="68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health screenshot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3337560"/>
            <a:ext cx="4187952" cy="1417320"/>
          </a:xfrm>
          <a:prstGeom prst="roundRect">
            <a:avLst>
              <a:gd name="adj" fmla="val 3226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543800" y="3410712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525512" y="4017874"/>
            <a:ext cx="4041648" cy="68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reconnaissance screenshot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ADVERSARIAL ATTACKS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FGSM — Concept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Gradient Sign Method (FGSM)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the gradient of the loss with respect to the input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Single-step perturbation in the direction that increases loss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Perturbation magnitude is bounded by epsilon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7373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formula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208483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28232" y="2221992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8" name="Shape 6"/>
          <p:cNvSpPr/>
          <p:nvPr/>
        </p:nvSpPr>
        <p:spPr>
          <a:xfrm>
            <a:off x="6629400" y="2221992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9" name="Shape 7"/>
          <p:cNvSpPr/>
          <p:nvPr/>
        </p:nvSpPr>
        <p:spPr>
          <a:xfrm>
            <a:off x="6830568" y="2221992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0" name="Text 8"/>
          <p:cNvSpPr txBox="1"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x_adv = x + epsilon * sign(gradient)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32918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329184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291840"/>
            <a:ext cx="39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11440" y="32918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11440" y="329184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63000" y="3291840"/>
            <a:ext cx="39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59240" y="32918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59240" y="329184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× 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210800" y="3291840"/>
            <a:ext cx="39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07040" y="32918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607040" y="329184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Adv. Image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443484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perturbation invisible to the human eye can still flip the model's prediction — the image looks unchanged, the output does not.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FGSM — ATTACK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Attack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2880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2880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075688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label:              7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Original prediction:     7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Adversarial prediction:  3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Epsilon:                 0.1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4747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1" name="Shape 9"/>
          <p:cNvSpPr/>
          <p:nvPr/>
        </p:nvSpPr>
        <p:spPr>
          <a:xfrm>
            <a:off x="914400" y="34747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12" name="Shape 10"/>
          <p:cNvSpPr/>
          <p:nvPr/>
        </p:nvSpPr>
        <p:spPr>
          <a:xfrm>
            <a:off x="1115568" y="34747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3" name="Text 11"/>
          <p:cNvSpPr txBox="1"/>
          <p:nvPr/>
        </p:nvSpPr>
        <p:spPr>
          <a:xfrm>
            <a:off x="731520" y="37216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"filename": "fgsm_adversarial.png",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"prediction": 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live through the FastAPI /predict endpoint.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5367528"/>
            <a:ext cx="4846320" cy="651967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→ 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51830"/>
            <a:ext cx="4846320" cy="3154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FLIPPED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691640"/>
            <a:ext cx="2702052" cy="2208276"/>
          </a:xfrm>
          <a:prstGeom prst="roundRect">
            <a:avLst>
              <a:gd name="adj" fmla="val 2070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080760" y="1764792"/>
            <a:ext cx="2519172" cy="88331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62472" y="2751612"/>
            <a:ext cx="2555748" cy="1059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FGSM attack execution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92540" y="1691640"/>
            <a:ext cx="2702052" cy="2208276"/>
          </a:xfrm>
          <a:prstGeom prst="roundRect">
            <a:avLst>
              <a:gd name="adj" fmla="val 2070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983980" y="1764792"/>
            <a:ext cx="2519172" cy="88331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965692" y="2751612"/>
            <a:ext cx="2555748" cy="1059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image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4101084"/>
            <a:ext cx="2702052" cy="2208276"/>
          </a:xfrm>
          <a:prstGeom prst="roundRect">
            <a:avLst>
              <a:gd name="adj" fmla="val 2070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080760" y="4174236"/>
            <a:ext cx="2519172" cy="88331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62472" y="5161056"/>
            <a:ext cx="2555748" cy="1059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Adversarial image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92540" y="4101084"/>
            <a:ext cx="2702052" cy="2208276"/>
          </a:xfrm>
          <a:prstGeom prst="roundRect">
            <a:avLst>
              <a:gd name="adj" fmla="val 2070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983980" y="4174236"/>
            <a:ext cx="2519172" cy="88331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965692" y="5161056"/>
            <a:ext cx="2555748" cy="1059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verification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FGSM — ATTACK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Second Independent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745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label:              2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Original prediction:     2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Adversarial prediction:  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Epsilon:                 0.1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through the live API, confirming the result on a second, independent sample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Perturbation values stayed within the expected ±0.1 epsilon bound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5321808"/>
            <a:ext cx="5212080" cy="68031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→ 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36285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FLIPPED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0E1B26"/>
          </a:solidFill>
          <a:ln w="15875">
            <a:solidFill>
              <a:srgbClr val="63737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63640" y="2560320"/>
            <a:ext cx="5394960" cy="15544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EVIDENCE SCREENSHOT HERE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12064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 FGSM execution / API verification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ADVERSARIAL ATTACKS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PGD — Concept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Projected Gradient Descent (PGD)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Iterative: many small gradient-based steps instead of FGSM's single step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each step, the perturbation is projected back within the epsilon boundary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Generally a stronger attack than a single FGSM step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7373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2084832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28232" y="2221992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8" name="Shape 6"/>
          <p:cNvSpPr/>
          <p:nvPr/>
        </p:nvSpPr>
        <p:spPr>
          <a:xfrm>
            <a:off x="6629400" y="2221992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9" name="Shape 7"/>
          <p:cNvSpPr/>
          <p:nvPr/>
        </p:nvSpPr>
        <p:spPr>
          <a:xfrm>
            <a:off x="6830568" y="2221992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0" name="Text 8"/>
          <p:cNvSpPr txBox="1"/>
          <p:nvPr/>
        </p:nvSpPr>
        <p:spPr>
          <a:xfrm>
            <a:off x="6446520" y="2468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Epsilon:  0.1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Alpha:    0.01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Steps:    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52044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3794760"/>
            <a:ext cx="822960" cy="822960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37947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75488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PERTURB  →  PROJECT  →  CLIP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166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for 10 steps, each bounded within ±ε of the original image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PGD — ATTACK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Attack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745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Original label:           7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Adversarial prediction:   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10896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1" name="Shape 9"/>
          <p:cNvSpPr/>
          <p:nvPr/>
        </p:nvSpPr>
        <p:spPr>
          <a:xfrm>
            <a:off x="914400" y="310896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12" name="Shape 10"/>
          <p:cNvSpPr/>
          <p:nvPr/>
        </p:nvSpPr>
        <p:spPr>
          <a:xfrm>
            <a:off x="1115568" y="310896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3" name="Text 11"/>
          <p:cNvSpPr txBox="1"/>
          <p:nvPr/>
        </p:nvSpPr>
        <p:spPr>
          <a:xfrm>
            <a:off x="731520" y="335584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"filename": "pgd_from_scratch_7_to_3.png",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"prediction":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from scratch and verified live through the API.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5093208"/>
            <a:ext cx="5212080" cy="82204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→ 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58561"/>
            <a:ext cx="5212080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FLIPPED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355080" y="1810512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2417674"/>
            <a:ext cx="5248656" cy="68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PGD execution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333756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355080" y="3410712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4017874"/>
            <a:ext cx="5248656" cy="68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PGD adversarial image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493776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355080" y="5010912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5618074"/>
            <a:ext cx="5248656" cy="68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PGD API verification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Adversarial Input Vulnerability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8308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can be fooled by carefully crafted adversarial inputs.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43784"/>
            <a:ext cx="438912" cy="438912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437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34056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 Risk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734056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Uploaded input must be validated for empty files, invalid content, and excessive size or dimensions.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94760"/>
            <a:ext cx="438912" cy="438912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947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8503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Integrity Risk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68503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modification of the model file could alter model behavior.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445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45736"/>
            <a:ext cx="438912" cy="438912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457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6360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 Security Risk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636008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container should run with minimized privileges.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9554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96712"/>
            <a:ext cx="438912" cy="438912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967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586984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Black-Box Model Extraction Risk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5586984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API queries can reveal enough prediction behavior to train a substitute model.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Security Mitigations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2514600"/>
          </a:xfrm>
          <a:prstGeom prst="roundRect">
            <a:avLst>
              <a:gd name="adj" fmla="val 2909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745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10725912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Maximum file size        = 5 MB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Maximum image dimension  = 2048 × 2048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Invalid image      → HTTP 400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Empty file         → HTTP 400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Oversized file      → HTTP 413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Oversized dimensions → HTTP 413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75304" cy="1920240"/>
          </a:xfrm>
          <a:prstGeom prst="roundRect">
            <a:avLst>
              <a:gd name="adj" fmla="val 238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080" y="4507992"/>
            <a:ext cx="3392424" cy="76809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5356555"/>
            <a:ext cx="3429000" cy="9217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Invalid-file rejection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06824" y="4434840"/>
            <a:ext cx="3575304" cy="1920240"/>
          </a:xfrm>
          <a:prstGeom prst="roundRect">
            <a:avLst>
              <a:gd name="adj" fmla="val 238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398264" y="4507992"/>
            <a:ext cx="3392424" cy="76809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5356555"/>
            <a:ext cx="3429000" cy="9217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Large-file rejection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65008" y="4434840"/>
            <a:ext cx="3575304" cy="1920240"/>
          </a:xfrm>
          <a:prstGeom prst="roundRect">
            <a:avLst>
              <a:gd name="adj" fmla="val 238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156448" y="4507992"/>
            <a:ext cx="3392424" cy="76809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5356555"/>
            <a:ext cx="3429000" cy="9217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Large-dimension rejection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Integrity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hash of the model file is verified before loading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is loaded with weights_only=True to avoid unrestricted deserialization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Tampered-model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37033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8" name="Shape 6"/>
          <p:cNvSpPr/>
          <p:nvPr/>
        </p:nvSpPr>
        <p:spPr>
          <a:xfrm>
            <a:off x="914400" y="37033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9" name="Shape 7"/>
          <p:cNvSpPr/>
          <p:nvPr/>
        </p:nvSpPr>
        <p:spPr>
          <a:xfrm>
            <a:off x="1115568" y="37033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0" name="Text 8"/>
          <p:cNvSpPr txBox="1"/>
          <p:nvPr/>
        </p:nvSpPr>
        <p:spPr>
          <a:xfrm>
            <a:off x="731520" y="39502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403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RuntimeError: Model integrity check failed.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Safer model loading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498348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4" name="Shape 12"/>
          <p:cNvSpPr/>
          <p:nvPr/>
        </p:nvSpPr>
        <p:spPr>
          <a:xfrm>
            <a:off x="914400" y="498348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15" name="Shape 13"/>
          <p:cNvSpPr/>
          <p:nvPr/>
        </p:nvSpPr>
        <p:spPr>
          <a:xfrm>
            <a:off x="1115568" y="498348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16" name="Text 14"/>
          <p:cNvSpPr txBox="1"/>
          <p:nvPr/>
        </p:nvSpPr>
        <p:spPr>
          <a:xfrm>
            <a:off x="731520" y="5230368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torch.load(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MODEL_PATH,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map_location=device,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weights_only=True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394960" cy="2103120"/>
          </a:xfrm>
          <a:prstGeom prst="roundRect">
            <a:avLst>
              <a:gd name="adj" fmla="val 2174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355080" y="1810512"/>
            <a:ext cx="5212080" cy="8412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746858"/>
            <a:ext cx="5248656" cy="1009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integrity pass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355080" y="4096512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5120640"/>
            <a:ext cx="524865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Tampered model rejection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Docker Hardening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Shape 4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7" name="Shape 5"/>
          <p:cNvSpPr/>
          <p:nvPr/>
        </p:nvSpPr>
        <p:spPr>
          <a:xfrm>
            <a:off x="1115568" y="1874520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1072591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           = appuser  (uid=1000)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ReadonlyRootfs  = true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CapDrop         = ALL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SecurityOpt     = no-new-privileges:true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evidence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086661" cy="2468880"/>
          </a:xfrm>
          <a:prstGeom prst="roundRect">
            <a:avLst>
              <a:gd name="adj" fmla="val 219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0080" y="3959352"/>
            <a:ext cx="1903781" cy="9875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5071262"/>
            <a:ext cx="1940357" cy="11850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hardening verification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99893" y="3886200"/>
            <a:ext cx="2086661" cy="2468880"/>
          </a:xfrm>
          <a:prstGeom prst="roundRect">
            <a:avLst>
              <a:gd name="adj" fmla="val 219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2891333" y="3959352"/>
            <a:ext cx="1903781" cy="9875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873045" y="5071262"/>
            <a:ext cx="1940357" cy="11850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filesystem verification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51146" y="3886200"/>
            <a:ext cx="2086661" cy="2468880"/>
          </a:xfrm>
          <a:prstGeom prst="roundRect">
            <a:avLst>
              <a:gd name="adj" fmla="val 219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142586" y="3959352"/>
            <a:ext cx="1903781" cy="9875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24298" y="5071262"/>
            <a:ext cx="1940357" cy="11850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/tmp writable verification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2398" y="3886200"/>
            <a:ext cx="2086661" cy="2468880"/>
          </a:xfrm>
          <a:prstGeom prst="roundRect">
            <a:avLst>
              <a:gd name="adj" fmla="val 219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7393838" y="3959352"/>
            <a:ext cx="1903781" cy="9875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375550" y="5071262"/>
            <a:ext cx="1940357" cy="11850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 dropped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553651" y="3886200"/>
            <a:ext cx="2086661" cy="2468880"/>
          </a:xfrm>
          <a:prstGeom prst="roundRect">
            <a:avLst>
              <a:gd name="adj" fmla="val 2191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645091" y="3959352"/>
            <a:ext cx="1903781" cy="9875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626803" y="5071262"/>
            <a:ext cx="1940357" cy="11850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No-new-privileges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HARDENING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vs After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14600"/>
            <a:ext cx="44348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user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Writable root filesystem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capabilities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explicit no-new-privileges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91072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91072" y="19659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48272" y="2514600"/>
            <a:ext cx="44348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appuser (non-root)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root filesystem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capabilities dropped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no-new-privileges enabled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EXPERIMENT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Black-Box Model Extraction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65630"/>
            <a:ext cx="60350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spcAft>
                <a:spcPts val="1600"/>
              </a:spcAft>
              <a:buSzPct val="100000"/>
              <a:buNone/>
            </a:pP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API was treated strictly as a black box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returned top-1 prediction was collected for each query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attack did NOT obtain: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Model weights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Gradients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Logits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235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Confidence scores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1783080"/>
            <a:ext cx="4782312" cy="4206240"/>
          </a:xfrm>
          <a:prstGeom prst="roundRect">
            <a:avLst>
              <a:gd name="adj" fmla="val 1739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86600" y="19659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31720"/>
            <a:ext cx="429768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a minimal API response — just a predicted digit — can leak enough information over many queries to train a separate substitute model that mimics the original's decisions.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EXPERIMENT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Extraction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66.00%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Fidelity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training queries   ·   50 evaluation queries   ·   33 matching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17373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91072" y="187452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194560"/>
            <a:ext cx="5349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E9E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83.00%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297180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Fidelity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3383280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training queries   ·   100 evaluation queries   ·   83 matching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360920" cy="1737360"/>
          </a:xfrm>
          <a:prstGeom prst="roundRect">
            <a:avLst>
              <a:gd name="adj" fmla="val 4211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480560"/>
            <a:ext cx="6903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 fidelity means the substitute model reproduced the target API's top-1 prediction on 83 of 100 unseen samples.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257800"/>
            <a:ext cx="69037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4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does NOT mean 83% model accuracy, exact cloning, or recovery of the original weights.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4343400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229600" y="4416552"/>
            <a:ext cx="3319272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5177333"/>
            <a:ext cx="3355848" cy="8339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extraction results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MAPPING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MITRE ATLAS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9E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AML.T0040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73736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 Inference API Access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61488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9E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AML.T0043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761488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Craft Adversarial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85616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9E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AML.T0042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785616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Attack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09744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9E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AML.T0031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809744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Erode ML Model Integrity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17373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Navigator-compatible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2084832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101E2B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82712" y="2221992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9" name="Shape 17"/>
          <p:cNvSpPr/>
          <p:nvPr/>
        </p:nvSpPr>
        <p:spPr>
          <a:xfrm>
            <a:off x="8183880" y="2221992"/>
            <a:ext cx="91440" cy="91440"/>
          </a:xfrm>
          <a:prstGeom prst="ellipse">
            <a:avLst/>
          </a:prstGeom>
          <a:solidFill>
            <a:srgbClr val="F5C453"/>
          </a:solidFill>
        </p:spPr>
      </p:sp>
      <p:sp>
        <p:nvSpPr>
          <p:cNvPr id="20" name="Shape 18"/>
          <p:cNvSpPr/>
          <p:nvPr/>
        </p:nvSpPr>
        <p:spPr>
          <a:xfrm>
            <a:off x="8385048" y="2221992"/>
            <a:ext cx="91440" cy="91440"/>
          </a:xfrm>
          <a:prstGeom prst="ellipse">
            <a:avLst/>
          </a:prstGeom>
          <a:solidFill>
            <a:srgbClr val="2FE6B8"/>
          </a:solidFill>
        </p:spPr>
      </p:sp>
      <p:sp>
        <p:nvSpPr>
          <p:cNvPr id="21" name="Text 19"/>
          <p:cNvSpPr txBox="1"/>
          <p:nvPr/>
        </p:nvSpPr>
        <p:spPr>
          <a:xfrm>
            <a:off x="8001000" y="24688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report/mitre-atlas/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F5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assessment-layer.json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3246120"/>
            <a:ext cx="3840480" cy="2971800"/>
          </a:xfrm>
          <a:prstGeom prst="roundRect">
            <a:avLst>
              <a:gd name="adj" fmla="val 1538"/>
            </a:avLst>
          </a:prstGeom>
          <a:solidFill>
            <a:srgbClr val="0E1B26"/>
          </a:solidFill>
          <a:ln w="12700">
            <a:solidFill>
              <a:srgbClr val="63737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7909560" y="3319272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  SCREENSHOT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891272" y="4672584"/>
            <a:ext cx="3694176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MITRE ATLAS Navigator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MAPPING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NIST AI RMF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activities, risks, and testing activities were documented.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28232" y="19659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46888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model, inference API, attack surface, and risks were identified.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accuracy, attack results, and control effectiveness were measured.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99632" y="40233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28232" y="420624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470916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validation, integrity checks, and container hardening were implemented.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Verification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accuracy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783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— 97.03%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prediction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148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image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514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— HTTP 400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Oversized file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8803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— HTTP 413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Oversized dimensions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— HTTP 413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11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integrity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611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API health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977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7830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root filesystem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783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148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/tmp writable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148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25146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 dropped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514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8803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No-new-privileges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8803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246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FGSM API verification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3611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PGD API verification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611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1783080"/>
            <a:ext cx="2907792" cy="4572000"/>
          </a:xfrm>
          <a:prstGeom prst="roundRect">
            <a:avLst>
              <a:gd name="adj" fmla="val 1887"/>
            </a:avLst>
          </a:prstGeom>
          <a:solidFill>
            <a:srgbClr val="0E1B26"/>
          </a:solidFill>
          <a:ln w="15875">
            <a:solidFill>
              <a:srgbClr val="63737F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8732520" y="2606040"/>
            <a:ext cx="2907792" cy="15544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60520"/>
            <a:ext cx="263347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EVIDENCE SCREENSHOT HERE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5166360"/>
            <a:ext cx="263347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post-mitigation verification run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3272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20240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3284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3284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68652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40252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3296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3296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88664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0264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3308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3308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08676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80276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3320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13320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28688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00288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3332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3332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48700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20300" y="1984248"/>
            <a:ext cx="248412" cy="0"/>
          </a:xfrm>
          <a:prstGeom prst="line">
            <a:avLst/>
          </a:prstGeom>
          <a:noFill/>
          <a:ln w="25400">
            <a:solidFill>
              <a:srgbClr val="E1F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53344" y="1783080"/>
            <a:ext cx="402336" cy="402336"/>
          </a:xfrm>
          <a:prstGeom prst="ellipse">
            <a:avLst/>
          </a:prstGeom>
          <a:solidFill>
            <a:srgbClr val="E1F5EF"/>
          </a:solidFill>
          <a:ln w="12700">
            <a:solidFill>
              <a:srgbClr val="0E9E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53344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E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11091672" cy="3108960"/>
          </a:xfrm>
          <a:prstGeom prst="roundRect">
            <a:avLst>
              <a:gd name="adj" fmla="val 2353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  <a:effectLst>
            <a:outerShdw blurRad="101600" dist="25400" dir="5400000" algn="bl" rotWithShape="0">
              <a:srgbClr val="9AA7B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3063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3429000"/>
            <a:ext cx="5212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is a small MNIST classifier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was performed in a controlled local environment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extraction attack used only top-1 labels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substitute model was not an exact copy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3429000"/>
            <a:ext cx="5212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 fidelity was based on 100 unseen queries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and third-party systems were not targeted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2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Membership inference, poisoning, and backdoor attacks were not demonstrated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SECURITY RED TEAM ASSESSMENT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91672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3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>
          <a:xfrm>
            <a:off x="1219200" y="1787525"/>
            <a:ext cx="9753600" cy="2479675"/>
          </a:xfrm>
        </p:spPr>
        <p:txBody>
          <a:bodyPr>
            <a:noAutofit/>
          </a:bodyPr>
          <a:p>
            <a:r>
              <a:rPr lang="en-US" sz="6600"/>
              <a:t>THANK YOU</a:t>
            </a:r>
            <a:endParaRPr lang="en-US" sz="6600"/>
          </a:p>
          <a:p>
            <a:endParaRPr lang="en-US" sz="6600"/>
          </a:p>
          <a:p>
            <a:r>
              <a:rPr lang="en-US" altLang="en-US" sz="1000"/>
              <a:t>AI Security Red Team Assessment</a:t>
            </a:r>
            <a:endParaRPr lang="en-US" altLang="en-US" sz="1000"/>
          </a:p>
          <a:p>
            <a:r>
              <a:rPr lang="en-US" altLang="en-US" sz="1000"/>
              <a:t>Securing AI Systems Through Adversarial Testing</a:t>
            </a:r>
            <a:endParaRPr lang="en-US" altLang="en-US" sz="1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f22a6c6f3b915b54dfcacc2dc9678b1972b95d"/>
  <p:tag name="KSO_WM_NEWLAYOUT_ID" val="slide_0e3763c640ea4c61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4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8758</Words>
  <Application>WPS Presentation</Application>
  <PresentationFormat>On-screen Show (16:9)</PresentationFormat>
  <Paragraphs>723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Calibri</vt:lpstr>
      <vt:lpstr>Calibri</vt:lpstr>
      <vt:lpstr>Arial</vt:lpstr>
      <vt:lpstr>Arial</vt:lpstr>
      <vt:lpstr>Consolas</vt:lpstr>
      <vt:lpstr>Consolas</vt:lpstr>
      <vt:lpstr>Consolas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yordanos shewangzaw</cp:lastModifiedBy>
  <cp:revision>3</cp:revision>
  <dcterms:created xsi:type="dcterms:W3CDTF">2026-09-28T11:57:00Z</dcterms:created>
  <dcterms:modified xsi:type="dcterms:W3CDTF">2026-09-29T03:28:31Z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6EB4022817C144FBB6D865C579B272BF_13</vt:lpwstr>
  </property>
</Properties>
</file>